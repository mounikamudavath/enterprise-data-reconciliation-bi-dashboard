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embeddedFontLst>
    <p:embeddedFont>
      <p:font typeface="Roboto Mon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Mon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Mono-italic.fntdata"/><Relationship Id="rId16" Type="http://schemas.openxmlformats.org/officeDocument/2006/relationships/font" Target="fonts/RobotoMon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RobotoMon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2631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-1463040" y="4754880"/>
            <a:ext cx="3657600" cy="3657600"/>
          </a:xfrm>
          <a:prstGeom prst="ellipse">
            <a:avLst/>
          </a:prstGeom>
          <a:solidFill>
            <a:srgbClr val="2631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INTERNSHIP PROJECT SUBMISSION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1828800"/>
            <a:ext cx="9601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Enterprise Data Reconciliation &amp;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Business Intelligence Dashboard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35204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An end-to-end ETL pipeline built with Python, SQL, Regex &amp; Pandas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297680"/>
            <a:ext cx="5120640" cy="1280160"/>
          </a:xfrm>
          <a:prstGeom prst="rect">
            <a:avLst/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051560" y="4434840"/>
            <a:ext cx="4663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Student Name: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Mudavath Mounika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Internship: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Analytics Internship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Submission Date: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30-07-2026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Tech Stack:  Python  •  SQLite  •  Pandas  •  Regex  •  Matplotlib  •  Seaborn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Three Messy, Disconnected Data Sources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1737360"/>
            <a:ext cx="35204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777240" y="18745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777240" y="25146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HR Database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77240" y="297180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SQLite table of user accounts contains historical status logs — the same user can appear 2-3 times as Pending → Active → Suspended, with no easy way to tell who is currently active.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343400" y="1737360"/>
            <a:ext cx="35204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572000" y="18745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0" y="25146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Server Logs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572000" y="297180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100,000+ raw text log lines. Transaction data (date, user, product, amount) is buried inside unstructured strings, mixed in with failed "ERROR" transactions.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138160" y="1737360"/>
            <a:ext cx="35204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8366760" y="187452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366760" y="25146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Exchange Rates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366760" y="2971800"/>
            <a:ext cx="31089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Daily EUR→USD rates are provided, but markets are closed on weekends — so Saturday/Sunday transactions have no matching rate and risk being silently dropped.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5257800"/>
            <a:ext cx="11064240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The Ask:  </a:t>
            </a: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a pipeline that extracts, cleans, merges and reconciles all three sources into a single trustworthy dataset — in under 2 minutes, with no data silently lost — and produce a CFO-ready revenue dashboard.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PROJECT SOLUTION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 4-Phase ETL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600200" y="17830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160020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48640" y="2606040"/>
            <a:ext cx="26060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31520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Extract (SQL)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31520" y="3200400"/>
            <a:ext cx="22402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Window function (ROW_NUMBER) collapses the historical user log down to each user's latest status; filter to Active only.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31520" y="54406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C79A3C"/>
                </a:solidFill>
                <a:latin typeface="Courier New"/>
                <a:ea typeface="Courier New"/>
                <a:cs typeface="Courier New"/>
                <a:sym typeface="Courier New"/>
              </a:rPr>
              <a:t>In [1]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063240" y="35661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43484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3383280" y="2606040"/>
            <a:ext cx="26060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3566160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Transform (Regex)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3566160" y="3200400"/>
            <a:ext cx="22402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One vectorized .str.extract() call pulls Date, User ID, Product ID and EUR value out of 100k raw log lines. ERROR rows dropped first.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3566160" y="54406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C79A3C"/>
                </a:solidFill>
                <a:latin typeface="Courier New"/>
                <a:ea typeface="Courier New"/>
                <a:cs typeface="Courier New"/>
                <a:sym typeface="Courier New"/>
              </a:rPr>
              <a:t>In [2]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897880" y="35661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269480" y="17830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726948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217920" y="2606040"/>
            <a:ext cx="26060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400800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Reconcile (Merge)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400800" y="3200400"/>
            <a:ext cx="22402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Exchange rates sorted and forward-filled so weekend gaps don't break the join; merged to transactions, then to Active users.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400800" y="54406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C79A3C"/>
                </a:solidFill>
                <a:latin typeface="Courier New"/>
                <a:ea typeface="Courier New"/>
                <a:cs typeface="Courier New"/>
                <a:sym typeface="Courier New"/>
              </a:rPr>
              <a:t>In [3]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732520" y="3566160"/>
            <a:ext cx="457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0104120" y="178308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10104120" y="17830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052560" y="2606040"/>
            <a:ext cx="2606040" cy="32004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9235440" y="27432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Calibri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Load (Dashboard)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9235440" y="3200400"/>
            <a:ext cx="2240280" cy="2148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USD revenue computed, aggregated by month and by customer, and visualized as a two-panel CFO dashboard.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9235440" y="544068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C79A3C"/>
                </a:solidFill>
                <a:latin typeface="Courier New"/>
                <a:ea typeface="Courier New"/>
                <a:cs typeface="Courier New"/>
                <a:sym typeface="Courier New"/>
              </a:rPr>
              <a:t>In [4]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Result: 94,902 clean transactions → 53,899 tied to Active users → $148,274,622.91 reconciled USD revenue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TOOLS &amp; METHODS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Technologies Used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40080" y="1828800"/>
            <a:ext cx="3429000" cy="1874520"/>
          </a:xfrm>
          <a:prstGeom prst="roundRect">
            <a:avLst>
              <a:gd fmla="val 3902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868680" y="2011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68680" y="2514600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Core scripting language for the entire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343400" y="1828800"/>
            <a:ext cx="3429000" cy="1874520"/>
          </a:xfrm>
          <a:prstGeom prst="roundRect">
            <a:avLst>
              <a:gd fmla="val 3902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4572000" y="2011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SQLite + 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572000" y="2514600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Window functions (ROW_NUMBER) for historical user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8046720" y="1828800"/>
            <a:ext cx="3429000" cy="1874520"/>
          </a:xfrm>
          <a:prstGeom prst="roundRect">
            <a:avLst>
              <a:gd fmla="val 3902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275320" y="201168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275320" y="2514600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Vectorized data cleaning, merging &amp; aggregation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40080" y="3977640"/>
            <a:ext cx="3429000" cy="1874520"/>
          </a:xfrm>
          <a:prstGeom prst="roundRect">
            <a:avLst>
              <a:gd fmla="val 3902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868680" y="4160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Regex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68680" y="4663440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Parsing unstructured transaction data from log strings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343400" y="3977640"/>
            <a:ext cx="3429000" cy="1874520"/>
          </a:xfrm>
          <a:prstGeom prst="roundRect">
            <a:avLst>
              <a:gd fmla="val 3902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4572000" y="4160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Matplotlib / Seaborn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4572000" y="4663440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CFO dashboard: revenue trend &amp; top-customer charts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046720" y="3977640"/>
            <a:ext cx="3429000" cy="1874520"/>
          </a:xfrm>
          <a:prstGeom prst="roundRect">
            <a:avLst>
              <a:gd fmla="val 3902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8275320" y="41605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Jupyter / Colab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8275320" y="4663440"/>
            <a:ext cx="2971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Development &amp; documentation 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PROJECT SCREENSHOTS · PHASE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SQL Extraction — Active Users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1737360"/>
            <a:ext cx="4480560" cy="44805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548650" y="2052725"/>
            <a:ext cx="4800600" cy="41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Objective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Extract the latest active users from the historical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users</a:t>
            </a:r>
            <a:r>
              <a:rPr lang="en-US">
                <a:solidFill>
                  <a:schemeClr val="dk1"/>
                </a:solidFill>
              </a:rPr>
              <a:t> table.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Approach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Connected to the SQLite database.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Used the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ROW_NUMBER()</a:t>
            </a:r>
            <a:r>
              <a:rPr lang="en-US">
                <a:solidFill>
                  <a:schemeClr val="dk1"/>
                </a:solidFill>
              </a:rPr>
              <a:t> window function to rank records by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updated_at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Selected the most recent record (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rn = 1</a:t>
            </a:r>
            <a:r>
              <a:rPr lang="en-US">
                <a:solidFill>
                  <a:schemeClr val="dk1"/>
                </a:solidFill>
              </a:rPr>
              <a:t>) for each user.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Filtered only users whose latest status is </a:t>
            </a:r>
            <a:r>
              <a:rPr b="1" lang="en-US">
                <a:solidFill>
                  <a:schemeClr val="dk1"/>
                </a:solidFill>
              </a:rPr>
              <a:t>Active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dk1"/>
                </a:solidFill>
              </a:rPr>
              <a:t>Output</a:t>
            </a:r>
            <a:endParaRPr b="1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Retrieved </a:t>
            </a:r>
            <a:r>
              <a:rPr b="1" lang="en-US">
                <a:solidFill>
                  <a:schemeClr val="dk1"/>
                </a:solidFill>
              </a:rPr>
              <a:t>14,183 active users</a:t>
            </a:r>
            <a:r>
              <a:rPr lang="en-US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</a:rPr>
              <a:t>Displayed the first few records using </a:t>
            </a:r>
            <a:r>
              <a:rPr lang="en-US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df_active_users.head()</a:t>
            </a:r>
            <a:r>
              <a:rPr lang="en-US">
                <a:solidFill>
                  <a:schemeClr val="dk1"/>
                </a:solidFill>
              </a:rPr>
              <a:t>.</a:t>
            </a:r>
            <a:endParaRPr sz="15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349240" y="1737360"/>
            <a:ext cx="6263640" cy="4160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AB4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5349240" y="2651760"/>
            <a:ext cx="62636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349240" y="3566160"/>
            <a:ext cx="6263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7"/>
          <p:cNvPicPr preferRelativeResize="0"/>
          <p:nvPr/>
        </p:nvPicPr>
        <p:blipFill rotWithShape="1">
          <a:blip r:embed="rId3">
            <a:alphaModFix/>
          </a:blip>
          <a:srcRect b="10709" l="7737" r="40889" t="29930"/>
          <a:stretch/>
        </p:blipFill>
        <p:spPr>
          <a:xfrm>
            <a:off x="5349250" y="1769375"/>
            <a:ext cx="6263626" cy="416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PROJECT SCREENSHOTS · PHASE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Regex — Parsing the Server Logs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48640" y="1737360"/>
            <a:ext cx="4480560" cy="44805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"/>
          <p:cNvSpPr/>
          <p:nvPr/>
        </p:nvSpPr>
        <p:spPr>
          <a:xfrm>
            <a:off x="548650" y="1521825"/>
            <a:ext cx="4583100" cy="50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Objective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Extract structured transaction data from raw server logs using Regex.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Approach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Loaded server logs into Pandas.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Removed </a:t>
            </a:r>
            <a:r>
              <a:rPr b="1" lang="en-US" sz="1200">
                <a:solidFill>
                  <a:schemeClr val="dk1"/>
                </a:solidFill>
              </a:rPr>
              <a:t>ERROR</a:t>
            </a:r>
            <a:r>
              <a:rPr lang="en-US" sz="1200">
                <a:solidFill>
                  <a:schemeClr val="dk1"/>
                </a:solidFill>
              </a:rPr>
              <a:t> records.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Used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str.extract()</a:t>
            </a:r>
            <a:r>
              <a:rPr lang="en-US" sz="1200">
                <a:solidFill>
                  <a:schemeClr val="dk1"/>
                </a:solidFill>
              </a:rPr>
              <a:t> with Regex to extract: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>
                <a:solidFill>
                  <a:schemeClr val="dk1"/>
                </a:solidFill>
              </a:rPr>
              <a:t>Date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>
                <a:solidFill>
                  <a:schemeClr val="dk1"/>
                </a:solidFill>
              </a:rPr>
              <a:t>User ID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>
                <a:solidFill>
                  <a:schemeClr val="dk1"/>
                </a:solidFill>
              </a:rPr>
              <a:t>Product ID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US" sz="1200">
                <a:solidFill>
                  <a:schemeClr val="dk1"/>
                </a:solidFill>
              </a:rPr>
              <a:t>EUR Value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Converted extracted fields to appropriate data types.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Output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94,902</a:t>
            </a:r>
            <a:r>
              <a:rPr lang="en-US" sz="1200">
                <a:solidFill>
                  <a:schemeClr val="dk1"/>
                </a:solidFill>
              </a:rPr>
              <a:t> valid transactions extracted.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0</a:t>
            </a:r>
            <a:r>
              <a:rPr lang="en-US" sz="1200">
                <a:solidFill>
                  <a:schemeClr val="dk1"/>
                </a:solidFill>
              </a:rPr>
              <a:t> failed extractions.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Key Insight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Converted unstructured logs into a clean dataset for financial analysis.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5349240" y="1737360"/>
            <a:ext cx="6263640" cy="4160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AB4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11203" l="8223" r="42031" t="29583"/>
          <a:stretch/>
        </p:blipFill>
        <p:spPr>
          <a:xfrm>
            <a:off x="5325175" y="1521825"/>
            <a:ext cx="6498024" cy="3814376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AB4C8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35" name="Google Shape;135;p8"/>
          <p:cNvPicPr preferRelativeResize="0"/>
          <p:nvPr/>
        </p:nvPicPr>
        <p:blipFill rotWithShape="1">
          <a:blip r:embed="rId4">
            <a:alphaModFix/>
          </a:blip>
          <a:srcRect b="42697" l="7747" r="48438" t="30433"/>
          <a:stretch/>
        </p:blipFill>
        <p:spPr>
          <a:xfrm>
            <a:off x="5325175" y="4618650"/>
            <a:ext cx="6311774" cy="19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PROJECT SCREENSHOTS · PHASE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Financial Reconciliation — EUR → USD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548640" y="1737360"/>
            <a:ext cx="4480560" cy="44805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777250" y="1737350"/>
            <a:ext cx="4023300" cy="47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Objective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Merge transaction data with exchange rates and convert </a:t>
            </a:r>
            <a:r>
              <a:rPr b="1" lang="en-US" sz="1200">
                <a:solidFill>
                  <a:schemeClr val="dk1"/>
                </a:solidFill>
              </a:rPr>
              <a:t>EUR</a:t>
            </a:r>
            <a:r>
              <a:rPr lang="en-US" sz="1200">
                <a:solidFill>
                  <a:schemeClr val="dk1"/>
                </a:solidFill>
              </a:rPr>
              <a:t> transactions to </a:t>
            </a:r>
            <a:r>
              <a:rPr b="1" lang="en-US" sz="1200">
                <a:solidFill>
                  <a:schemeClr val="dk1"/>
                </a:solidFill>
              </a:rPr>
              <a:t>USD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Approach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Filled missing exchange rates using </a:t>
            </a:r>
            <a:r>
              <a:rPr lang="en-US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ffill()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Merged transactions with daily exchange rates.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Filtered only </a:t>
            </a:r>
            <a:r>
              <a:rPr b="1" lang="en-US" sz="1200">
                <a:solidFill>
                  <a:schemeClr val="dk1"/>
                </a:solidFill>
              </a:rPr>
              <a:t>Active</a:t>
            </a:r>
            <a:r>
              <a:rPr lang="en-US" sz="1200">
                <a:solidFill>
                  <a:schemeClr val="dk1"/>
                </a:solidFill>
              </a:rPr>
              <a:t> users.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Calculated </a:t>
            </a:r>
            <a:r>
              <a:rPr b="1" lang="en-US" sz="1200">
                <a:solidFill>
                  <a:schemeClr val="dk1"/>
                </a:solidFill>
              </a:rPr>
              <a:t>USD Revenue</a:t>
            </a:r>
            <a:r>
              <a:rPr lang="en-US" sz="1200">
                <a:solidFill>
                  <a:schemeClr val="dk1"/>
                </a:solidFill>
              </a:rPr>
              <a:t> for each transaction.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Output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US" sz="1200">
                <a:solidFill>
                  <a:schemeClr val="dk1"/>
                </a:solidFill>
              </a:rPr>
              <a:t>0</a:t>
            </a:r>
            <a:r>
              <a:rPr lang="en-US" sz="1200">
                <a:solidFill>
                  <a:schemeClr val="dk1"/>
                </a:solidFill>
              </a:rPr>
              <a:t> missing exchange rates after merge.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US" sz="1200">
                <a:solidFill>
                  <a:schemeClr val="dk1"/>
                </a:solidFill>
              </a:rPr>
              <a:t>Final dataset: </a:t>
            </a:r>
            <a:r>
              <a:rPr b="1" lang="en-US" sz="1200">
                <a:solidFill>
                  <a:schemeClr val="dk1"/>
                </a:solidFill>
              </a:rPr>
              <a:t>53,899</a:t>
            </a:r>
            <a:r>
              <a:rPr lang="en-US" sz="1200">
                <a:solidFill>
                  <a:schemeClr val="dk1"/>
                </a:solidFill>
              </a:rPr>
              <a:t> records with </a:t>
            </a:r>
            <a:r>
              <a:rPr b="1" lang="en-US" sz="1200">
                <a:solidFill>
                  <a:schemeClr val="dk1"/>
                </a:solidFill>
              </a:rPr>
              <a:t>USD Revenue</a:t>
            </a:r>
            <a:r>
              <a:rPr lang="en-US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chemeClr val="dk1"/>
                </a:solidFill>
              </a:rPr>
              <a:t>Key Insight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</a:rPr>
              <a:t>Created a reconciled financial dataset ready for business analysis and reporting.</a:t>
            </a:r>
            <a:endParaRPr sz="12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5349240" y="1737360"/>
            <a:ext cx="6263640" cy="416052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AB4C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13979" l="8414" r="35305" t="40666"/>
          <a:stretch/>
        </p:blipFill>
        <p:spPr>
          <a:xfrm>
            <a:off x="5229025" y="1389900"/>
            <a:ext cx="6823027" cy="3367125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AAB4C8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4">
            <a:alphaModFix/>
          </a:blip>
          <a:srcRect b="13760" l="7862" r="19273" t="54645"/>
          <a:stretch/>
        </p:blipFill>
        <p:spPr>
          <a:xfrm>
            <a:off x="5229025" y="4665300"/>
            <a:ext cx="6823027" cy="20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PROJECT SCREENSHOTS · PHASE 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Dashboard — Final Output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fo_dashboard.png" id="156" name="Google Shape;15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0835" y="1860830"/>
            <a:ext cx="9601198" cy="397763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0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PROJECT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Results at a Glance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40080" y="1828800"/>
            <a:ext cx="2542032" cy="2103120"/>
          </a:xfrm>
          <a:prstGeom prst="roundRect">
            <a:avLst>
              <a:gd fmla="val 3478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>
            <a:off x="777240" y="2011680"/>
            <a:ext cx="22677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94,902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777240" y="2880360"/>
            <a:ext cx="2267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Log entries parsed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(0 failed extractions)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3410712" y="1828800"/>
            <a:ext cx="2542032" cy="2103120"/>
          </a:xfrm>
          <a:prstGeom prst="roundRect">
            <a:avLst>
              <a:gd fmla="val 3478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"/>
          <p:cNvSpPr/>
          <p:nvPr/>
        </p:nvSpPr>
        <p:spPr>
          <a:xfrm>
            <a:off x="3547872" y="2011680"/>
            <a:ext cx="22677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53,899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3547872" y="2880360"/>
            <a:ext cx="2267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Reconciled transactions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(Active users only)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6181344" y="1828800"/>
            <a:ext cx="2542032" cy="2103120"/>
          </a:xfrm>
          <a:prstGeom prst="roundRect">
            <a:avLst>
              <a:gd fmla="val 3478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"/>
          <p:cNvSpPr/>
          <p:nvPr/>
        </p:nvSpPr>
        <p:spPr>
          <a:xfrm>
            <a:off x="6318504" y="2011680"/>
            <a:ext cx="22677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$148.27M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6318504" y="2880360"/>
            <a:ext cx="2267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Total reconciled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USD revenue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1"/>
          <p:cNvSpPr/>
          <p:nvPr/>
        </p:nvSpPr>
        <p:spPr>
          <a:xfrm>
            <a:off x="8951976" y="1828800"/>
            <a:ext cx="2542032" cy="2103120"/>
          </a:xfrm>
          <a:prstGeom prst="roundRect">
            <a:avLst>
              <a:gd fmla="val 3478" name="adj"/>
            </a:avLst>
          </a:prstGeom>
          <a:solidFill>
            <a:srgbClr val="263172"/>
          </a:solidFill>
          <a:ln cap="flat" cmpd="sng" w="12700">
            <a:solidFill>
              <a:srgbClr val="3B47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"/>
          <p:cNvSpPr/>
          <p:nvPr/>
        </p:nvSpPr>
        <p:spPr>
          <a:xfrm>
            <a:off x="9089136" y="2011680"/>
            <a:ext cx="226771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C79A3C"/>
                </a:solidFill>
                <a:latin typeface="Cambria"/>
                <a:ea typeface="Cambria"/>
                <a:cs typeface="Cambria"/>
                <a:sym typeface="Cambria"/>
              </a:rPr>
              <a:t>&lt; 41s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9089136" y="2880360"/>
            <a:ext cx="226771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End-to-end pipeline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runtime (limit: 2 min)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640080" y="42519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640080" y="4617720"/>
            <a:ext cx="1088136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pipeline correctly resolves each of the three data-quality traps in the brief: it collapses duplicate user history to current status via a SQL window function, extracts structured fields from unstructured logs with a single vectorized regex, and forward-fills weekend exchange rates so no transaction is silently dropped from the reconciliation. The result is a single trustworthy dataset ready for monthly revenue and top-customer reporting.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B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A3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79A3C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This Project Demonstrates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2"/>
          <p:cNvSpPr/>
          <p:nvPr/>
        </p:nvSpPr>
        <p:spPr>
          <a:xfrm>
            <a:off x="822960" y="1920240"/>
            <a:ext cx="10515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✦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Advanced SQL — window functions to resolve slowly-changing dimension (SCD) data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✦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Regex &amp; string parsing — extracting structured data from unstructured log text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✦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Data reconciliation — correctly handling missing weekend exchange-rate data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✦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Performance-aware Pandas — fully vectorized, no row-by-row loops, sub-1-minute runtime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600"/>
              </a:spcBef>
              <a:spcAft>
                <a:spcPts val="0"/>
              </a:spcAft>
              <a:buClr>
                <a:srgbClr val="1A1A2E"/>
              </a:buClr>
              <a:buSzPts val="1550"/>
              <a:buFont typeface="Calibri"/>
              <a:buChar char="✦"/>
            </a:pPr>
            <a:r>
              <a:rPr b="0" i="0" lang="en-US" sz="15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Business communication — translating a technical pipeline into a CFO-ready dashboard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548640" y="5486400"/>
            <a:ext cx="11064240" cy="8686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/>
          <p:nvPr/>
        </p:nvSpPr>
        <p:spPr>
          <a:xfrm>
            <a:off x="822960" y="562356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